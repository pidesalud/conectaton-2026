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05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VHL en RENHICE es un SHLink sin firma DSC externa. Es JWT RS256 firmado con clave privada interna del RENHICE. No confundir con el Track Regional que usa WHO TNG.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el SIHCE es el consumidor externo. App Mobile usa Keycloak PKCE. Auth-service (:8081) y FHIR-service (:8082) son los dos microservicios propios de RENHICE.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minsa_logo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2743200" cy="2743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659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VHL – Verified Health Link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1480" y="26974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el sistema RENHICE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31272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paciente comparte su historia clínica de forma segura,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y con su consentimiento explícito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822192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8039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Conectatón Nacional 2026  ·  MINSA Perú</a:t>
            </a:r>
            <a:endParaRPr lang="en-US" sz="1000" dirty="0"/>
          </a:p>
        </p:txBody>
      </p:sp>
      <p:pic>
        <p:nvPicPr>
          <p:cNvPr id="99" name="Logo MINSA" descr="mins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29209"/>
            <a:ext cx="2560320" cy="685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Verified Health Link (VHL)?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344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2331720" cy="0"/>
          </a:xfrm>
          <a:prstGeom prst="line">
            <a:avLst/>
          </a:prstGeom>
          <a:noFill/>
          <a:ln w="762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5603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VHL / SMART Health Link (SHL) es un estándar internacional que permite compartir información de salud mediante un enlace o QR firmado digitalmente, con tiempo de vida limitado y control total del paciente.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54680" y="10972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23444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83280" y="2468880"/>
            <a:ext cx="2331720" cy="0"/>
          </a:xfrm>
          <a:prstGeom prst="line">
            <a:avLst/>
          </a:prstGeom>
          <a:noFill/>
          <a:ln w="762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0" y="25603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SMART Health Links (HL7 / SMART on FHIR). El enlace contiene un JWT RS256 que actúa como token de acceso temporal a un Bundle FHIR IPS.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0760" y="109728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23444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RENHICE lo llamamos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309360" y="2468880"/>
            <a:ext cx="2331720" cy="0"/>
          </a:xfrm>
          <a:prstGeom prst="line">
            <a:avLst/>
          </a:prstGeom>
          <a:noFill/>
          <a:ln w="762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17920" y="25603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SHLink — el paciente genera un QR desde la app móvil (Flutter) que el profesional de salud escanea para acceder al Resumen de Historia Clínica (IPS).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017520" y="246888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4F8E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43600" y="246888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4F8E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VHL (situación actual)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45336"/>
            <a:ext cx="347472" cy="347472"/>
          </a:xfrm>
          <a:prstGeom prst="ellipse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lleva documentos físicos o impresos a cada consulta.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85416"/>
            <a:ext cx="347472" cy="347472"/>
          </a:xfrm>
          <a:prstGeom prst="ellipse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control sobre quién accede a su historia clínica.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25496"/>
            <a:ext cx="347472" cy="347472"/>
          </a:xfrm>
          <a:prstGeom prst="ellipse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salud no interoperan — cada uno tiene su silo.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65576"/>
            <a:ext cx="347472" cy="347472"/>
          </a:xfrm>
          <a:prstGeom prst="ellipse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auditoría de los accesos realizados.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0" cy="3749040"/>
          </a:xfrm>
          <a:prstGeom prst="line">
            <a:avLst/>
          </a:prstGeom>
          <a:noFill/>
          <a:ln w="1016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VHL en RENHICE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545336"/>
            <a:ext cx="347472" cy="347472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93792" y="1508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elige qué documentos compartir en el momento.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85416"/>
            <a:ext cx="347472" cy="347472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93792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es temporal (15–30 min) y se invalida automáticamente.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25496"/>
            <a:ext cx="347472" cy="347472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recibe un Bundle FHIR IPS estándar e interoperable.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65576"/>
            <a:ext cx="347472" cy="347472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3792" y="3429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acceso queda en auditoría con fecha, profesional y documentos.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sistema RENHICE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</a:t>
            </a:r>
            <a:r>
              <a:rPr lang="en-US" sz="900" b="1" dirty="0" err="1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2340864"/>
            <a:ext cx="128016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selecciona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y genera QR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48840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207008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286000" y="2340864"/>
            <a:ext cx="128016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94560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JWT RS256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tokens / JWKS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114800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3FC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207008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052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Service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251960" y="2340864"/>
            <a:ext cx="128016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60520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IPS on-demand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FHIR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172198" y="1097280"/>
            <a:ext cx="1463041" cy="2286000"/>
          </a:xfrm>
          <a:prstGeom prst="roundRect">
            <a:avLst>
              <a:gd name="adj" fmla="val 5882"/>
            </a:avLst>
          </a:prstGeom>
          <a:solidFill>
            <a:srgbClr val="FDECEA"/>
          </a:solidFill>
          <a:ln w="15240">
            <a:solidFill>
              <a:srgbClr val="CE112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207008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217920" y="2340864"/>
            <a:ext cx="1280160" cy="0"/>
          </a:xfrm>
          <a:prstGeom prst="line">
            <a:avLst/>
          </a:prstGeom>
          <a:noFill/>
          <a:ln w="6350">
            <a:solidFill>
              <a:srgbClr val="CE1126">
                <a:alpha val="5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126480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PKCE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paciente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726680" y="1097280"/>
            <a:ext cx="1417320" cy="228600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5240">
            <a:solidFill>
              <a:srgbClr val="6B728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1207008"/>
            <a:ext cx="566928" cy="5669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3524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726680" y="2340864"/>
            <a:ext cx="1280160" cy="0"/>
          </a:xfrm>
          <a:prstGeom prst="line">
            <a:avLst/>
          </a:prstGeom>
          <a:noFill/>
          <a:ln w="6350">
            <a:solidFill>
              <a:srgbClr val="6B7280">
                <a:alpha val="5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635240" y="2395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 JTI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737360" y="20116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3703320" y="20116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→</a:t>
            </a:r>
            <a:endParaRPr lang="en-US" sz="650" dirty="0"/>
          </a:p>
        </p:txBody>
      </p:sp>
      <p:sp>
        <p:nvSpPr>
          <p:cNvPr id="31" name="Text 24"/>
          <p:cNvSpPr/>
          <p:nvPr/>
        </p:nvSpPr>
        <p:spPr>
          <a:xfrm>
            <a:off x="5692139" y="20116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↔</a:t>
            </a:r>
            <a:endParaRPr lang="en-US" sz="650" dirty="0"/>
          </a:p>
        </p:txBody>
      </p:sp>
      <p:sp>
        <p:nvSpPr>
          <p:cNvPr id="32" name="Text 25"/>
          <p:cNvSpPr/>
          <p:nvPr/>
        </p:nvSpPr>
        <p:spPr>
          <a:xfrm>
            <a:off x="7086600" y="20116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auth →</a:t>
            </a:r>
            <a:endParaRPr lang="en-US" sz="650" dirty="0"/>
          </a:p>
        </p:txBody>
      </p:sp>
      <p:sp>
        <p:nvSpPr>
          <p:cNvPr id="33" name="Shape 26"/>
          <p:cNvSpPr/>
          <p:nvPr/>
        </p:nvSpPr>
        <p:spPr>
          <a:xfrm>
            <a:off x="3474720" y="37033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DECEA"/>
          </a:solidFill>
          <a:ln w="15240">
            <a:solidFill>
              <a:srgbClr val="CE112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79476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160520" y="3767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SIHCE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(Sistema salud — externo)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365760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QR · consume Bundle IPS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4023360" y="3383280"/>
            <a:ext cx="0" cy="320040"/>
          </a:xfrm>
          <a:prstGeom prst="line">
            <a:avLst/>
          </a:prstGeom>
          <a:noFill/>
          <a:ln w="12700">
            <a:solidFill>
              <a:srgbClr val="1B4F8E"/>
            </a:solidFill>
            <a:prstDash val="dash"/>
          </a:ln>
        </p:spPr>
      </p:sp>
      <p:sp>
        <p:nvSpPr>
          <p:cNvPr id="38" name="Text 30"/>
          <p:cNvSpPr/>
          <p:nvPr/>
        </p:nvSpPr>
        <p:spPr>
          <a:xfrm>
            <a:off x="3474720" y="3346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IPS ↓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5102352" y="3383280"/>
            <a:ext cx="0" cy="320040"/>
          </a:xfrm>
          <a:prstGeom prst="line">
            <a:avLst/>
          </a:prstGeom>
          <a:noFill/>
          <a:ln w="12700">
            <a:solidFill>
              <a:srgbClr val="1B4F8E"/>
            </a:solidFill>
            <a:prstDash val="dash"/>
          </a:ln>
        </p:spPr>
      </p:sp>
      <p:sp>
        <p:nvSpPr>
          <p:cNvPr id="40" name="Text 32"/>
          <p:cNvSpPr/>
          <p:nvPr/>
        </p:nvSpPr>
        <p:spPr>
          <a:xfrm>
            <a:off x="484632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 ↕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del VHL — paso a paso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Generación (paciente)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3560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se autentica en la app con Keycloak PKCE → obtiene access_token.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qué documentos (DocumentReference) quiere compartir.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53288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llama a POST /api/shlink/generate con los docRefs y el consentId.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8152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 genera JWT RS256 + sessionId + passcode (opcional).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63016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construye el QR con el payload url#shlink:/token=JWT&amp;exp=…&amp;flag=L.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005840"/>
            <a:ext cx="0" cy="3840480"/>
          </a:xfrm>
          <a:prstGeom prst="line">
            <a:avLst/>
          </a:prstGeom>
          <a:noFill/>
          <a:ln w="1016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Consumo (profesional SIHCE)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43560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escanea el QR con el SIHCE y extrae el JWT.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98424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SIHCE valida el JWT: POST /shlink/validate → firma, exp, aud, JTI.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53288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SIHCE pide el Bundle IPS: GET /shlink/{sessionId}/generate-ips.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08152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FHIR-service verifica consentimiento activo y genera Bundle solo con docs autorizados.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30168"/>
            <a:ext cx="329184" cy="329184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636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entregado con headers no-store. JTI marcado como usado → anti-replay.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JWT del QR — claims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33272"/>
            <a:ext cx="1371600" cy="32004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033272"/>
            <a:ext cx="2194560" cy="32004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0332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ejemplo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033272"/>
            <a:ext cx="5212080" cy="32004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03327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353312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353312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353312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19072" y="1353312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renhice-auth-service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13632" y="135331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emitió el token (RENHICE)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655064"/>
            <a:ext cx="137160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1655064"/>
            <a:ext cx="219456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655064"/>
            <a:ext cx="521208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655064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19072" y="1655064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session:a1b2c3…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13632" y="1655064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sesión — NO el DNI del paciente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56816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956816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1956816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956816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19072" y="1956816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sihce-consumer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13632" y="1956816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es el token (solo el SIHCE)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258568"/>
            <a:ext cx="137160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2258568"/>
            <a:ext cx="219456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2258568"/>
            <a:ext cx="521208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258568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19072" y="2258568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 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13632" y="2258568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Expiración automática del acceso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560320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45920" y="2560320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2560320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560320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19072" y="256032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único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13632" y="2560320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Anti-replay: un token = un solo uso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862072"/>
            <a:ext cx="137160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0" y="2862072"/>
            <a:ext cx="219456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862072"/>
            <a:ext cx="521208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862072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doc_refs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19072" y="2862072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["doc-001","doc-003"]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13632" y="286207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explícitamente autorizados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163824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45920" y="3163824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3163824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163824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consent_id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719072" y="3163824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Consent/FHIR-uuid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913632" y="3163824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al Consent FHIR vigente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465576"/>
            <a:ext cx="137160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0" y="3465576"/>
            <a:ext cx="219456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0" y="3465576"/>
            <a:ext cx="521208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465576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patient_ref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719072" y="3465576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SCUS-UUID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913632" y="3465576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paciente (nunca el DNI crudo)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767328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45920" y="3767328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40480" y="3767328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3767328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719072" y="3767328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patient/Bundle.read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913632" y="3767328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mínimo necesario (PoLP)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069080"/>
            <a:ext cx="137160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45920" y="4069080"/>
            <a:ext cx="219456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0480" y="4069080"/>
            <a:ext cx="5212080" cy="301752"/>
          </a:xfrm>
          <a:prstGeom prst="rect">
            <a:avLst/>
          </a:prstGeom>
          <a:solidFill>
            <a:srgbClr val="EBF3FC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069080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719072" y="406908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/ LP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913632" y="4069080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L=Long content, P=Passcode requerido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4370832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45920" y="4370832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40480" y="4370832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370832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max_uses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719072" y="4370832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913632" y="437083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usos del token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BF3FC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con RS256 usando la clave privada del RENHICE. El SIHCE verifica con la clave pública expuesta en /.well-known/jwks.json del auth-service.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seguridad implementadas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RS256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lleva firma asimétrica. Si alguien modifica cualquier claim, la firma no verifica y el acceso es rechazado.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0700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2070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Expiración corta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6420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minutos configurables. Si el QR se pierde o roba, el acceso caduca automáticamente.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0700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12070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 (JTI+Redis)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6420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JWT tiene un jti único. Una vez usado, se guarda en Redis blacklist. No se puede reutilizar.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8152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restrictivo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301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solo acepta validación si el receptor es 'sihce-consumer'. No vale para otros sistemas.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8152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4904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Passcode verbal (opt.)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53872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6301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dígitos generados con SecureRandom. El paciente lo dicta verbalmente al profesional para doble factor.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9718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81528"/>
            <a:ext cx="384048" cy="384048"/>
          </a:xfrm>
          <a:prstGeom prst="ellipse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Consent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538728"/>
            <a:ext cx="251460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6301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 el Bundle, se verifica que el recurso Consent FHIR siga activo y vigente.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Payload QR y Generación del JWT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embebido en el QR: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https://renhice.minsa.gob.pe/retrieve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#shlink:/token=eyJhbGciOiJSUzI1NiJ9…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&amp;exp=1751000400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&amp;flag=LP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payload: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7249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🔗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7249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endpoint de recuperación RENHICE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04495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🔑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44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30449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JWT RS256 firmado (el QR lleva el token completo)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3649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⏱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364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epoch de expiración (Unix timestamp)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6850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🚩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flag=L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3685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Long content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400507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🚩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flag=LP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40050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Long + Passcode requerido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4840" y="1051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ShlinkService.java — construcción del JWT: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1353312"/>
            <a:ext cx="448056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444752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Session ID único por compartición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sessionId = UUID.randomUUID().toString();</a:t>
            </a:r>
            <a:endParaRPr lang="en-US" sz="750" dirty="0"/>
          </a:p>
          <a:p>
            <a:pPr marL="0" indent="0" algn="l">
              <a:buNone/>
            </a:pP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Passcode 6 dígitos (SecureRandom)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passcode = request.isRequirePasscode()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generatePasscode() : null;</a:t>
            </a:r>
            <a:endParaRPr lang="en-US" sz="750" dirty="0"/>
          </a:p>
          <a:p>
            <a:pPr marL="0" indent="0" algn="l">
              <a:buNone/>
            </a:pP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Generar JWT RS256 firmado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jwtTokenService.generateToken(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patientId,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request.getDocRefs(),  // docs autorizados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request.getConsentId(), // Consent FHIR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sessionId, expMinutes,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request.isRequirePasscode()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  <a:p>
            <a:pPr marL="0" indent="0" algn="l">
              <a:buNone/>
            </a:pP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Respuesta → app construye el QR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ShlinkGenerateResponse.builder()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.url(shlinkBaseUrl + "/retrieve")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.token(token)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.sessionId(sessionId)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.flag(passcode != null ? "LP" : "L")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.passcode(passcode)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D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Bundle IPS on-demand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IPS Bundle?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61188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Patient Summary (IPS) es el estándar FHIR R4 para resumen de historia clínica. Contiene diagnósticos, medicamentos, alergias, resultados de laboratorio y más.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y acotado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361188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en el momento de la petición, con exclusivamente los DocumentReference que el paciente autorizó. No se almacena en el SIHCE.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B4F8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de seguridad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14800"/>
            <a:ext cx="3611880" cy="0"/>
          </a:xfrm>
          <a:prstGeom prst="line">
            <a:avLst/>
          </a:prstGeom>
          <a:noFill/>
          <a:ln w="6350">
            <a:solidFill>
              <a:srgbClr val="1B4F8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78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Cache-Control: no-store  ·  Pragma: no-cache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X-RENHICE-Temporal: true  ·  X-RENHICE-No-Persist: true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X-Content-Type-Options: nosniff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1051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Bundle IPS: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353312"/>
            <a:ext cx="448056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444752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"resourceType": "Bundle",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"document",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"meta": {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"profile": [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"http://hl7.org/fhir/uv/ips/..."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"entry": [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"Composition",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"title": "Patient Summary" }},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"Patient",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[{"text": "Juan Pérez"}] }},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"Condition",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"code": "…diagnóstico…" }},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"MedicationStatement",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"medication": "…" }},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"AllergyIntolerance",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"code": "…" }},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"resource": { "resourceType": "Observation",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"code": "…laboratorio…" }}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5029200" cy="50292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implementamos — resumen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32104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8755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elige qué documentos compartir, con quién y por cuánto tiempo. El recurso Consent FHIR lo registra formalmente.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profundidad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990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+ anti-replay + expiración + audience + passcode verbal + verificación de Consent activo. 6 capas independientes.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Bundle IPS FHIR R4 puede ser consumido por cualquier sistema que implemente el estándar. El SIHCE solo necesita HTTP.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persistencia en receptor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no-store explícitos. El SIHCE visualiza pero no puede almacenar el bundle de manera automática.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7216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QR generado, cada validación y cada entrega de Bundle queda registrada con timestamp, sesión y documentos.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31012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independientes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7216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 (:8081) y FHIR-service (:8082) se pueden escalar y desplegar de forma independiente vía Docker Compose.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Conectatón Nacional 2026  ·  MINSA Perú  ·  Sistema RENHICE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1555</Words>
  <Application>Microsoft Office PowerPoint</Application>
  <PresentationFormat>Presentación en pantalla (16:9)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VHL – Verified Health Link · RENHICE · Conectatón Nacional 2026</dc:title>
  <dc:subject>PptxGenJS Presentation</dc:subject>
  <dc:creator>MINSA/OIDT · RENHICE</dc:creator>
  <cp:lastModifiedBy>Yvonne Echevarria</cp:lastModifiedBy>
  <cp:revision>2</cp:revision>
  <dcterms:created xsi:type="dcterms:W3CDTF">2026-06-26T15:53:43Z</dcterms:created>
  <dcterms:modified xsi:type="dcterms:W3CDTF">2026-06-26T16:35:33Z</dcterms:modified>
</cp:coreProperties>
</file>